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ple SD Gothic Neo"/>
              </a:rPr>
              <a:t>결제 경로 안내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32004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9AC4FF"/>
                </a:solidFill>
                <a:latin typeface="Apple SD Gothic Neo"/>
              </a:rPr>
              <a:t>Re:Service — 정기결제(자동결제) 가입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11480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C7D6EA"/>
                </a:solidFill>
                <a:latin typeface="Apple SD Gothic Neo"/>
              </a:rPr>
              <a:t>상호  디엔에이랩스 (DNA Labs)
서비스  dnalabs.kr
결제수단  카드 자동결제(빌링) · 토스페이먼츠
아래 화면은 운영 중인 사이트를 그대로 찍은 것입니다.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0B1B33"/>
                </a:solidFill>
                <a:latin typeface="Apple SD Gothic Neo"/>
              </a:rPr>
              <a:t>① 메인 화면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182F6"/>
                </a:solidFill>
                <a:latin typeface="Apple SD Gothic Neo"/>
              </a:rPr>
              <a:t>dnalabs.kr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5332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484"/>
                </a:solidFill>
                <a:latin typeface="Apple SD Gothic Neo"/>
              </a:rPr>
              <a:t>회사 홈페이지입니다. 위쪽 차림표의 「요금」으로 들어갑니다.</a:t>
            </a:r>
          </a:p>
        </p:txBody>
      </p:sp>
      <p:pic>
        <p:nvPicPr>
          <p:cNvPr id="5" name="Picture 4" descr="1-메인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9623" y="1234440"/>
            <a:ext cx="6632448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0B1B33"/>
                </a:solidFill>
                <a:latin typeface="Apple SD Gothic Neo"/>
              </a:rPr>
              <a:t>② 사업자 정보 (홈페이지 하단)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182F6"/>
                </a:solidFill>
                <a:latin typeface="Apple SD Gothic Neo"/>
              </a:rPr>
              <a:t>dnalabs.kr — 홈페이지 하단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5332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484"/>
                </a:solidFill>
                <a:latin typeface="Apple SD Gothic Neo"/>
              </a:rPr>
              <a:t>상호·대표자·사업자등록번호·통신판매업신고번호·사업장 주소·대표번호·이메일·개인정보 보호책임자와 이용약관·개인정보 처리방침·환불정책 링크를 홈페이지와 서비스 안내·요금·가입(결제) 화면 하단에 표시합니다.</a:t>
            </a:r>
          </a:p>
        </p:txBody>
      </p:sp>
      <p:pic>
        <p:nvPicPr>
          <p:cNvPr id="5" name="Picture 4" descr="1b-사업자정보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296" y="1234440"/>
            <a:ext cx="9469103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0B1B33"/>
                </a:solidFill>
                <a:latin typeface="Apple SD Gothic Neo"/>
              </a:rPr>
              <a:t>③ 요금 안내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182F6"/>
                </a:solidFill>
                <a:latin typeface="Apple SD Gothic Neo"/>
              </a:rPr>
              <a:t>dnalabs.kr/reservice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5332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484"/>
                </a:solidFill>
                <a:latin typeface="Apple SD Gothic Neo"/>
              </a:rPr>
              <a:t>서비스와 인원 구간에 따른 월 요금을 공개합니다. 부가세 별도임을 함께 적습니다.</a:t>
            </a:r>
          </a:p>
        </p:txBody>
      </p:sp>
      <p:pic>
        <p:nvPicPr>
          <p:cNvPr id="5" name="Picture 4" descr="2-요금안내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9623" y="1234440"/>
            <a:ext cx="6632448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0B1B33"/>
                </a:solidFill>
                <a:latin typeface="Apple SD Gothic Neo"/>
              </a:rPr>
              <a:t>④ 요금제 선택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182F6"/>
                </a:solidFill>
                <a:latin typeface="Apple SD Gothic Neo"/>
              </a:rPr>
              <a:t>dnalabs.kr/signup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5332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484"/>
                </a:solidFill>
                <a:latin typeface="Apple SD Gothic Neo"/>
              </a:rPr>
              <a:t>업종을 고른 뒤 요금제를 고릅니다. 고른 요금제의 월 금액과 첫 청구 시점을 그 자리에서 보여 줍니다.</a:t>
            </a:r>
          </a:p>
        </p:txBody>
      </p:sp>
      <p:pic>
        <p:nvPicPr>
          <p:cNvPr id="5" name="Picture 4" descr="3-요금제선택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9623" y="1234440"/>
            <a:ext cx="6632448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0B1B33"/>
                </a:solidFill>
                <a:latin typeface="Apple SD Gothic Neo"/>
              </a:rPr>
              <a:t>⑤ 가입 정보 입력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182F6"/>
                </a:solidFill>
                <a:latin typeface="Apple SD Gothic Neo"/>
              </a:rPr>
              <a:t>dnalabs.kr/signup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5332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484"/>
                </a:solidFill>
                <a:latin typeface="Apple SD Gothic Neo"/>
              </a:rPr>
              <a:t>상호·담당자·이메일·연락처를 받습니다. 다음 화면에서 이용약관·개인정보·환불정책에 동의를 받습니다.</a:t>
            </a:r>
          </a:p>
        </p:txBody>
      </p:sp>
      <p:pic>
        <p:nvPicPr>
          <p:cNvPr id="5" name="Picture 4" descr="4-정보입력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9623" y="1234440"/>
            <a:ext cx="6632448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0B1B33"/>
                </a:solidFill>
                <a:latin typeface="Apple SD Gothic Neo"/>
              </a:rPr>
              <a:t>⑥ 결제 직전 화면 (하단)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182F6"/>
                </a:solidFill>
                <a:latin typeface="Apple SD Gothic Neo"/>
              </a:rPr>
              <a:t>dnalabs.kr/signup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5332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484"/>
                </a:solidFill>
                <a:latin typeface="Apple SD Gothic Neo"/>
              </a:rPr>
              <a:t>약관 동의와 카드 등록 단추가 있는 결제 직전 화면입니다. 이 화면 하단에도 같은 사업자 정보를 표시합니다.</a:t>
            </a:r>
          </a:p>
        </p:txBody>
      </p:sp>
      <p:pic>
        <p:nvPicPr>
          <p:cNvPr id="5" name="Picture 4" descr="4b-결제화면하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9623" y="1234440"/>
            <a:ext cx="6632448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0B1B33"/>
                </a:solidFill>
                <a:latin typeface="Apple SD Gothic Neo"/>
              </a:rPr>
              <a:t>⑦ 토스페이먼츠 결제창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182F6"/>
                </a:solidFill>
                <a:latin typeface="Apple SD Gothic Neo"/>
              </a:rPr>
              <a:t>js.tosspayments.com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5332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484"/>
                </a:solidFill>
                <a:latin typeface="Apple SD Gothic Neo"/>
              </a:rPr>
              <a:t>카드 정보는 토스페이먼츠 결제창에서만 입력받습니다. 당사는 카드번호를 받지도, 저장하지도 않습니다. 빌링키만 돌려받습니다.</a:t>
            </a:r>
          </a:p>
        </p:txBody>
      </p:sp>
      <p:pic>
        <p:nvPicPr>
          <p:cNvPr id="5" name="Picture 4" descr="5-토스결제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9623" y="1234440"/>
            <a:ext cx="6632448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0B1B33"/>
                </a:solidFill>
                <a:latin typeface="Apple SD Gothic Neo"/>
              </a:rPr>
              <a:t>⑧ 가입 완료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182F6"/>
                </a:solidFill>
                <a:latin typeface="Apple SD Gothic Neo"/>
              </a:rPr>
              <a:t>dnalabs.kr/signup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5332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484"/>
                </a:solidFill>
                <a:latin typeface="Apple SD Gothic Neo"/>
              </a:rPr>
              <a:t>회사코드·아이디·비밀번호를 발급합니다. 무료 기간 종료일과 해지 방법을 함께 안내합니다.</a:t>
            </a:r>
          </a:p>
        </p:txBody>
      </p:sp>
      <p:pic>
        <p:nvPicPr>
          <p:cNvPr id="5" name="Picture 4" descr="6-가입완료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9623" y="1234440"/>
            <a:ext cx="6632448" cy="4663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